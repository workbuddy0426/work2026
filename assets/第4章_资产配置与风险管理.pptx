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第4章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资产配置与风险管理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马克维茨均值-方差 · Black-Litterman · 风险平价 · 实际约束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3291840"/>
            <a:ext cx="1828800" cy="27432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《量化交易：算法、分析、数据、模型和优化》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行者 · 2026-05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本章概览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1097280" cy="27432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33856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338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88720" y="1097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投资组合理论基础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13533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预期收益与风险的数学框架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77240" y="1627632"/>
            <a:ext cx="0" cy="91440"/>
          </a:xfrm>
          <a:prstGeom prst="line">
            <a:avLst/>
          </a:prstGeom>
          <a:noFill/>
          <a:ln w="19050">
            <a:solidFill>
              <a:srgbClr val="F9616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7373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88720" y="170078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马克维茨均值-方差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88720" y="195681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有效前沿与最小方差组合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77240" y="2231136"/>
            <a:ext cx="0" cy="91440"/>
          </a:xfrm>
          <a:prstGeom prst="line">
            <a:avLst/>
          </a:prstGeom>
          <a:noFill/>
          <a:ln w="19050">
            <a:solidFill>
              <a:srgbClr val="F9616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34086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3408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88720" y="23042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切线组合 &amp; CAL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88720" y="2560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引入无风险资产 → 夏普比率最大化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77240" y="2834640"/>
            <a:ext cx="0" cy="91440"/>
          </a:xfrm>
          <a:prstGeom prst="line">
            <a:avLst/>
          </a:prstGeom>
          <a:noFill/>
          <a:ln w="19050">
            <a:solidFill>
              <a:srgbClr val="F9616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2944368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2944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88720" y="29077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Black-Litterman &amp; 风险平价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88720" y="316382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贝叶斯更新 + 等风险贡献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77240" y="3438144"/>
            <a:ext cx="0" cy="91440"/>
          </a:xfrm>
          <a:prstGeom prst="line">
            <a:avLst/>
          </a:prstGeom>
          <a:noFill/>
          <a:ln w="19050">
            <a:solidFill>
              <a:srgbClr val="F9616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3547872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3547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188720" y="351129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实际约束与工程实践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188720" y="37673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交易成本 · 卖空 · 集中度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77240" y="4041648"/>
            <a:ext cx="0" cy="91440"/>
          </a:xfrm>
          <a:prstGeom prst="line">
            <a:avLst/>
          </a:prstGeom>
          <a:noFill/>
          <a:ln w="19050">
            <a:solidFill>
              <a:srgbClr val="F9616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" y="4151376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4151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188720" y="4114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实现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188720" y="43708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scipy 凸优化求解器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303520" y="914400"/>
            <a:ext cx="3474720" cy="384048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394960" y="10058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知识链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394960" y="1463040"/>
            <a:ext cx="32918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马克维茨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切线组合 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Black-Litterman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风险平价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实际约束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Python实现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核心公式：组合收益与风险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1097280" cy="27432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97280"/>
            <a:ext cx="3840480" cy="182880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1887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组合预期收益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5544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E(Rp) = w'μ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20116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w₁μ₁ + w₂μ₂ + ... + wₙμₙ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3774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各资产收益率的加权平均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3840480" cy="182880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37760" y="11887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组合方差（风险）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5544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σ²p = w'Σ w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937760" y="20116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ΣᵢΣⱼ wᵢwⱼσᵢⱼ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23774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二次型，权重以平方和交叉项出现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3200400"/>
            <a:ext cx="8046720" cy="1645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2918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关键洞察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374904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若资产间相关性低（ρ ≈ 0），组合风险可小于单个资产风险的加权平均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这就是"分散化"的数学来源——不需要预测涨跌，只需要管理相关性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有效前沿与最小方差组合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1097280" cy="27432"/>
          </a:xfrm>
          <a:prstGeom prst="rect">
            <a:avLst/>
          </a:prstGeom>
          <a:solidFill>
            <a:srgbClr val="F96167"/>
          </a:solidFill>
          <a:ln/>
        </p:spPr>
      </p:sp>
      <p:graphicFrame>
        <p:nvGraphicFramePr>
          <p:cNvPr id="4" name="Chart 0" descr=""/>
          <p:cNvGraphicFramePr/>
          <p:nvPr/>
        </p:nvGraphicFramePr>
        <p:xfrm>
          <a:off x="548640" y="914400"/>
          <a:ext cx="41148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937760" y="914400"/>
            <a:ext cx="3657600" cy="146304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120640" y="10058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有效前沿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120640" y="137160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给定收益，最小化风险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前沿上的点 = 帕累托最优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前沿以下的点 = 可被改进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937760" y="2560320"/>
            <a:ext cx="3657600" cy="12801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Text 6"/>
          <p:cNvSpPr/>
          <p:nvPr/>
        </p:nvSpPr>
        <p:spPr>
          <a:xfrm>
            <a:off x="5120640" y="26517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分散化效果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120640" y="30175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 越低 → 有效前沿越向左弯曲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分散化收益越大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48640" y="4114800"/>
            <a:ext cx="8046720" cy="64008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2" name="Text 9"/>
          <p:cNvSpPr/>
          <p:nvPr/>
        </p:nvSpPr>
        <p:spPr>
          <a:xfrm>
            <a:off x="548640" y="411480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目标函数：min w'Σ w    约束：w'1 = 1, w'μ = R_target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切线组合 T — 最大夏普比率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1097280" cy="27432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05840"/>
            <a:ext cx="4572000" cy="109728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09728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 Ratio = (E(Rp) − rf) / σp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160020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切线组合 T = 夏普比率最大的组合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192024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由rf向有效前沿画切线 → 切点即为T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377440"/>
            <a:ext cx="2560320" cy="137160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85800" y="24688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仅与资产属性有关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28346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的权重只取决于 μ 和 Σ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与你的风险偏好无关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83280" y="2377440"/>
            <a:ext cx="2560320" cy="1371600"/>
          </a:xfrm>
          <a:prstGeom prst="rect">
            <a:avLst/>
          </a:prstGeom>
          <a:solidFill>
            <a:srgbClr val="F96167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520440" y="24688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风险偏好单独决定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20440" y="28346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保守 → 多配 rf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激进 → 借钱放大 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17920" y="2377440"/>
            <a:ext cx="2560320" cy="137160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55080" y="24688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分离定理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55080" y="28346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最优风险组合 + 资金分配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两个问题独立求解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3931920"/>
            <a:ext cx="804672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9776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数值示例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4251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资产A (μ=12%, σ=20%) + 资产B (μ=8%, σ=15%) + ρ=0.25 + rf=4%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44805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 = 60% A + 40% B, 夏普 = 0.435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切线组合数学推导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1097280" cy="27432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05840"/>
            <a:ext cx="548640" cy="685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0584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280160" y="1051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 SR(w) = (w'μ − rf) / √(w'Σ w)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80160" y="1371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to w'1 = 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2011680"/>
            <a:ext cx="548640" cy="685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01168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280160" y="2057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∂SR/∂w = 0 → μ(w'Σ w) = (w'μ − rf)Σ w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80160" y="2377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一阶条件：边际夏普=0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3017520"/>
            <a:ext cx="548640" cy="6858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01752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280160" y="3063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 ∝ Σ⁻¹ μ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80160" y="33832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整理得：权重与 Σ⁻¹μ 成比例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4023360"/>
            <a:ext cx="548640" cy="6858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02336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280160" y="4069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w_T = Σ⁻¹(μ − rf) / [1'Σ⁻¹(μ − rf)]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80160" y="4389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归一化：权重之和=1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Black-Litterman 模型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1097280" cy="27432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05840"/>
            <a:ext cx="8046720" cy="640080"/>
          </a:xfrm>
          <a:prstGeom prst="rect">
            <a:avLst/>
          </a:prstGeom>
          <a:solidFill>
            <a:srgbClr val="FCEBEB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0584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痛点：马克维茨对 μ 的输入极其敏感 — μ 变动 1%，权重可能变动 50%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1965960" cy="201168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920240"/>
            <a:ext cx="1965960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92024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逆向优化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423160"/>
            <a:ext cx="1783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从市值权重反推隐含收益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 = λ · Σ · w_mkt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377440" y="2560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697480" y="1920240"/>
            <a:ext cx="1965960" cy="201168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697480" y="1920240"/>
            <a:ext cx="1965960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2788920" y="192024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表达观点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788920" y="2423160"/>
            <a:ext cx="1783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· μ = Q + ε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置信度由 Ω 编码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26280" y="2560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846320" y="1920240"/>
            <a:ext cx="1965960" cy="201168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46320" y="1920240"/>
            <a:ext cx="1965960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192024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贝叶斯更新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0" y="2423160"/>
            <a:ext cx="1783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先验精度 + 观点精度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加权平均 → 后验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675120" y="2560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995160" y="1920240"/>
            <a:ext cx="1965960" cy="201168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995160" y="1920240"/>
            <a:ext cx="1965960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7086600" y="192024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 代入马克维茨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086600" y="2423160"/>
            <a:ext cx="1783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μ_BL 代替直接估计的 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权重更稳定、更合理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风险平价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1097280" cy="27432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05840"/>
            <a:ext cx="8046720" cy="640080"/>
          </a:xfrm>
          <a:prstGeom prst="rect">
            <a:avLst/>
          </a:prstGeom>
          <a:solidFill>
            <a:srgbClr val="FCEBEB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0584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传统 60/40 组合 → 股票贡献 90% 的风险，债券仅 10%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4114800" cy="164592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19202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边际风险贡献：MCRᵢ = (Σw)ᵢ / σp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2860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总风险贡献：RCᵢ = wᵢ × MCRᵢ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6517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目标：RC₁ = RC₂ = ... = RCₙ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30175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(ρ=0 时简化：w₁/w₂ = σ₂/σ₁)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937760" y="1828800"/>
            <a:ext cx="3657600" cy="1645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19202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核心优势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120640" y="228600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不需要 μ（预期收益）作为输入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只依赖协方差矩阵 Σ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权重与波动率成反比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桥水全天候策略的理论基础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四大实际约束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1097280" cy="27432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05840"/>
            <a:ext cx="1965960" cy="228600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34440" y="109728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1234440" y="1097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交易成本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1783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优化器倾向高换手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加正则惩罚：min w'Σw + λ||w−w_old||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97480" y="1005840"/>
            <a:ext cx="1965960" cy="228600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83280" y="109728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1" name="Text 9"/>
          <p:cNvSpPr/>
          <p:nvPr/>
        </p:nvSpPr>
        <p:spPr>
          <a:xfrm>
            <a:off x="3383280" y="1097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788920" y="16916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卖空限制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788920" y="2011680"/>
            <a:ext cx="1783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A股不能裸卖空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约束：wᵢ ≥ 0 (bounds=[(0,1)])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46320" y="1005840"/>
            <a:ext cx="1965960" cy="228600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532120" y="109728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6" name="Text 14"/>
          <p:cNvSpPr/>
          <p:nvPr/>
        </p:nvSpPr>
        <p:spPr>
          <a:xfrm>
            <a:off x="5532120" y="1097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937760" y="16916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头寸集中度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937760" y="2011680"/>
            <a:ext cx="1783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单标的不超过 20%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约束：wᵢ ≤ 0.2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995160" y="1005840"/>
            <a:ext cx="1965960" cy="228600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680960" y="109728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1" name="Text 19"/>
          <p:cNvSpPr/>
          <p:nvPr/>
        </p:nvSpPr>
        <p:spPr>
          <a:xfrm>
            <a:off x="7680960" y="1097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086600" y="16916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流动性门槛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086600" y="2011680"/>
            <a:ext cx="1783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大单有冲击成本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经验：单笔 ≤ 日均成交量 5%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实现 — Demo 结果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1097280" cy="27432"/>
          </a:xfrm>
          <a:prstGeom prst="rect">
            <a:avLst/>
          </a:prstGeom>
          <a:solidFill>
            <a:srgbClr val="F96167"/>
          </a:solidFill>
          <a:ln/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80467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97280"/>
                <a:gridCol w="1097280"/>
                <a:gridCol w="1097280"/>
                <a:gridCol w="1371600"/>
                <a:gridCol w="13716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策略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收益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风险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夏普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AI权重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债券权重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等权组合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最小方差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D9E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0.268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D9E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切线组合 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42.7%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风险平价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0.466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65.7%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限集中度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42.7%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657600"/>
            <a:ext cx="8046720" cy="109728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37033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代码框架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31520" y="397764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核心求解器：scipy.optimize.minimize(method='SLSQP')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31520" y="425196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文件：asset_allocator.py — 可直接修改 mu / sigma / corr 参数重新运行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31520" y="448056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TradingAgents（选股）→ AssetAllocator（配资）→ 执行决策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总  结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371600" cy="27432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1188720" cy="64008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7160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马克维茨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600200" y="137160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920240" y="1371600"/>
            <a:ext cx="1188720" cy="64008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8" name="Text 6"/>
          <p:cNvSpPr/>
          <p:nvPr/>
        </p:nvSpPr>
        <p:spPr>
          <a:xfrm>
            <a:off x="1920240" y="137160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切线组合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063240" y="137160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383280" y="1371600"/>
            <a:ext cx="1188720" cy="64008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1" name="Text 9"/>
          <p:cNvSpPr/>
          <p:nvPr/>
        </p:nvSpPr>
        <p:spPr>
          <a:xfrm>
            <a:off x="3383280" y="137160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Black-Litterman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26280" y="137160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846320" y="1371600"/>
            <a:ext cx="1188720" cy="64008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137160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风险平价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89320" y="137160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309360" y="1371600"/>
            <a:ext cx="1188720" cy="64008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7" name="Text 15"/>
          <p:cNvSpPr/>
          <p:nvPr/>
        </p:nvSpPr>
        <p:spPr>
          <a:xfrm>
            <a:off x="6309360" y="137160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实际约束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452360" y="137160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772400" y="1371600"/>
            <a:ext cx="1188720" cy="64008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0" y="137160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2377440"/>
            <a:ext cx="8229600" cy="146304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24688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完整交易系统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0080" y="292608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TradingAgents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（LLM 多智能体选股分析）</a:t>
            </a:r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 </a:t>
            </a:r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AssetAllocator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（量化凸优化配资）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=  从选股到组合的全链路决策系统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《量化交易》第4章 · 行者 · 2026-05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第4章 资产配置与风险管理</dc:title>
  <dc:subject>PptxGenJS Presentation</dc:subject>
  <dc:creator>行者</dc:creator>
  <cp:lastModifiedBy>行者</cp:lastModifiedBy>
  <cp:revision>1</cp:revision>
  <dcterms:created xsi:type="dcterms:W3CDTF">2026-05-05T02:43:29Z</dcterms:created>
  <dcterms:modified xsi:type="dcterms:W3CDTF">2026-05-05T02:43:29Z</dcterms:modified>
</cp:coreProperties>
</file>