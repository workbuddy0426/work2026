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第5章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交易执行与算法交易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市场微观结构 · Almgren-Chriss · VWAP/TWAP · A股实战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3291840"/>
            <a:ext cx="1828800" cy="2743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《量化交易：算法、分析、数据、模型和优化》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行者 · 2026-05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为什么执行很重要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097280" cy="2743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97280"/>
            <a:ext cx="8046720" cy="731520"/>
          </a:xfrm>
          <a:prstGeom prst="rect">
            <a:avLst/>
          </a:prstGeom>
          <a:solidFill>
            <a:srgbClr val="FCEBE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你的策略年化收益 20% ，如果执行成本吃掉 15% ，实际只剩 5%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3840480" cy="256032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21945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理论世界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65176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下单 = 按当前价格成交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没有摩擦, 没有成本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量化策略算多少就是多少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2103120"/>
            <a:ext cx="3840480" cy="2560320"/>
          </a:xfrm>
          <a:prstGeom prst="rect">
            <a:avLst/>
          </a:prstGeom>
          <a:solidFill>
            <a:srgbClr val="FCEBE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21945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真实世界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265176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买单推高价格, 卖单压低价格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大单暴露意图, 被市场狙击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策略实际收益 = 理论收益 − 执行成本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核心权衡：冲击成本 vs 时间风险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097280" cy="2743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97280"/>
            <a:ext cx="2560320" cy="164592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256032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972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快买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冲击成本: 高 (冲击成本大)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时间风险: 低 (时间风险小)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3774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不是最佳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1097280"/>
            <a:ext cx="2560320" cy="164592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1097280"/>
            <a:ext cx="256032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10972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适中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4720" y="16002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冲击成本: 中 (平衡点)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74720" y="20116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时间风险: 中 (平衡点)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0" y="23774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最佳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1097280"/>
            <a:ext cx="2560320" cy="164592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097280"/>
            <a:ext cx="256032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10972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慢买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09360" y="16002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冲击成本: 低 (冲击成本小)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09360" y="20116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时间风险: 高 (时间风险大)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09360" y="23774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不是最佳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017520"/>
            <a:ext cx="804672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0175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Almgren-Chriss 模型：找到总成本最低的执行速度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3931920"/>
            <a:ext cx="8046720" cy="9144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39776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总成本 = Σ [ η·v_t^(1+β) + σ·ΔW_t ]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48640" y="43434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= 冲击系数 (流动性差则大)    σ = 波动率    β ≈ 0.5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45262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最优速度 v* = (σ/η)^(1/1+β)   |   波动大 → 快买   |   冲击大 → 慢买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A股交易四大规则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097280" cy="2743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05840"/>
            <a:ext cx="3931920" cy="155448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143000"/>
            <a:ext cx="411480" cy="4114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43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0972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5087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当日买入不能当日卖出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88720" y="17830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隔夜风险是最大风控维度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2148840"/>
            <a:ext cx="3566160" cy="292608"/>
          </a:xfrm>
          <a:prstGeom prst="rect">
            <a:avLst/>
          </a:prstGeom>
          <a:solidFill>
            <a:srgbClr val="EAF3DE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14884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应对: 尾盘信号更可靠, 单日开仓≤5%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005840"/>
            <a:ext cx="3931920" cy="155448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92040" y="1143000"/>
            <a:ext cx="411480" cy="4114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1143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94960" y="10972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涨跌停±10%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94960" y="15087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封板时代理不能成交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94960" y="17830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流动性瞬间消失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92040" y="2148840"/>
            <a:ext cx="3566160" cy="292608"/>
          </a:xfrm>
          <a:prstGeom prst="rect">
            <a:avLst/>
          </a:prstGeom>
          <a:solidFill>
            <a:srgbClr val="EAF3DE"/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214884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应对: 涨停不追买, 跌停不割肉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2834640"/>
            <a:ext cx="3931920" cy="155448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" y="2971800"/>
            <a:ext cx="411480" cy="4114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2971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88720" y="29260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交易成本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88720" y="33375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卖出有0.05%印花税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88720" y="36118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来回成本约0.08%-0.13%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85800" y="3977640"/>
            <a:ext cx="3566160" cy="292608"/>
          </a:xfrm>
          <a:prstGeom prst="rect">
            <a:avLst/>
          </a:prstGeom>
          <a:solidFill>
            <a:srgbClr val="EAF3DE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397764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应对: 日换手率&lt;20%, 少卖多持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2834640"/>
            <a:ext cx="3931920" cy="155448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92040" y="2971800"/>
            <a:ext cx="411480" cy="4114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0" name="Text 28"/>
          <p:cNvSpPr/>
          <p:nvPr/>
        </p:nvSpPr>
        <p:spPr>
          <a:xfrm>
            <a:off x="4892040" y="2971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394960" y="29260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流动性分层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94960" y="33375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开盘30min+尾盘30min占55%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94960" y="36118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午休1.5小时不能交易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92040" y="3977640"/>
            <a:ext cx="3566160" cy="292608"/>
          </a:xfrm>
          <a:prstGeom prst="rect">
            <a:avLst/>
          </a:prstGeom>
          <a:solidFill>
            <a:srgbClr val="EAF3DE"/>
          </a:solidFill>
          <a:ln/>
        </p:spPr>
      </p:sp>
      <p:sp>
        <p:nvSpPr>
          <p:cNvPr id="35" name="Text 33"/>
          <p:cNvSpPr/>
          <p:nvPr/>
        </p:nvSpPr>
        <p:spPr>
          <a:xfrm>
            <a:off x="4983480" y="397764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应对: 大单限14:30-14:57执行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VWAP vs TWAP 执行算法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097280" cy="2743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05840"/>
            <a:ext cx="3840480" cy="201168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05840"/>
            <a:ext cx="384048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058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TWAP (Time-Weighted)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时间加权平均价格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73736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每分钟下等量的单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不需要知道成交量分布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简单可预测, 适合中小单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均价 = 全天价格的简单平均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3840480" cy="201168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05840"/>
            <a:ext cx="3840480" cy="4114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0058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VWAP (Volume-Weighted)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成交量加权平均价格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173736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按成交量比例分配下单量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顺应市场流动性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机构基准, 冲击成本更低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均价 = 价格 × 成交量权重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200400"/>
            <a:ext cx="8046720" cy="1645920"/>
          </a:xfrm>
          <a:prstGeom prst="rect">
            <a:avLst/>
          </a:prstGeom>
          <a:solidFill>
            <a:srgbClr val="F5F7FA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291840"/>
          <a:ext cx="76809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2011680"/>
                <a:gridCol w="2011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维度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VWAP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适用场景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下单规则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每分钟等量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按成交量比例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~100万以上用VWAP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数据需求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无需数据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需历史成交量曲线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~100万以下TWAP即可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执行成本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更低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A股尾盘集中下单也行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开发难度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极低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低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代码20行搞定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实盘执行指南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097280" cy="27432"/>
          </a:xfrm>
          <a:prstGeom prst="rect">
            <a:avLst/>
          </a:prstGeom>
          <a:solidFill>
            <a:srgbClr val="F96167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0467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743200"/>
                <a:gridCol w="347472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资金量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建议策略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具体方式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20万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一次性市价单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直接下单, 省心省力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20万~100万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TWAP 分3-5笔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每5分钟下一笔, 10分钟内完成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100万~500万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TWAP / VWAP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分10-20笔, 按成交量曲线分配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500万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VWAP 算法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需要自动化执行系统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017520"/>
            <a:ext cx="8046720" cy="137160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31089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6条A股执行规则（可直接写入你的系统）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31520" y="35204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交易时间：开盘前10分钟不下单, 尾盘30分钟是主要窗口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T+1风控：单日开仓 ≤ 总资金5%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涨跌停：涨停不追买, 跌停不割肉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成本控制：每日换手率 ≤ 20%, 减少卖出频率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流动性：单笔交易 ≤ 该股日均成交额的1%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执行算法：&gt; 50万用VWAP分批, &lt; 50万一次市价单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  结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371600" cy="2743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1188720" cy="64008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执行重要性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00200" y="137160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920240" y="1371600"/>
            <a:ext cx="1188720" cy="64008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1920240" y="13716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冲击vs时间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63240" y="137160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383280" y="1371600"/>
            <a:ext cx="1188720" cy="64008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3716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Almgren-Chriss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26280" y="137160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846320" y="1371600"/>
            <a:ext cx="1188720" cy="6400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3716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A股四大规则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89320" y="137160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309360" y="1371600"/>
            <a:ext cx="1188720" cy="6400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13716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VWAP/TWAP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452360" y="137160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772400" y="1371600"/>
            <a:ext cx="1188720" cy="6400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0" y="13716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实盘指南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2377440"/>
            <a:ext cx="8229600" cy="18288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24688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全书知识链（第1~5章）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080" y="292608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第1-3章: Alpha模型 + 风险模型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第4章:  资产配置与风险管理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第5章:  交易执行与算法交易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从'买什么' 到 '买多少' 到 '怎么买' 的完整链路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《量化交易》第5章 · 行者 · 2026-05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第5章 交易执行与算法交易</dc:title>
  <dc:subject>PptxGenJS Presentation</dc:subject>
  <dc:creator>行者</dc:creator>
  <cp:lastModifiedBy>行者</cp:lastModifiedBy>
  <cp:revision>1</cp:revision>
  <dcterms:created xsi:type="dcterms:W3CDTF">2026-05-05T03:10:44Z</dcterms:created>
  <dcterms:modified xsi:type="dcterms:W3CDTF">2026-05-05T03:10:44Z</dcterms:modified>
</cp:coreProperties>
</file>