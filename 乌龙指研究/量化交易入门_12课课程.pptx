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量化交易入门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22860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初中生也能听懂 · 12课从零到实战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3017520"/>
            <a:ext cx="1828800" cy="3657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29184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Python抓价格 · 套利监控 · 多因子选股 · 风控系统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基于《量化交易：算法、分析、数据、模型和优化》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课程总览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371600" cy="365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188720"/>
            <a:ext cx="1965960" cy="31089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88720"/>
            <a:ext cx="196596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4173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阶段一：认识市场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2011680"/>
            <a:ext cx="1691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第1课 交易是什么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第2课 价格怎么来的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第3课  Python抓行情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14600" y="1188720"/>
            <a:ext cx="1965960" cy="31089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14600" y="1188720"/>
            <a:ext cx="196596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2651760" y="14173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阶段二：套利基础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651760" y="2011680"/>
            <a:ext cx="1691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第4课 价差和套利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第5课 均值回归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第6课 价差监控器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1188720"/>
            <a:ext cx="1965960" cy="31089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1188720"/>
            <a:ext cx="196596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4" name="Text 12"/>
          <p:cNvSpPr/>
          <p:nvPr/>
        </p:nvSpPr>
        <p:spPr>
          <a:xfrm>
            <a:off x="4800600" y="14173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阶段三：选股系统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00600" y="2011680"/>
            <a:ext cx="1691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第7课 PE/PB/ROE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第8课 多因子打分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第9课 选股打分器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12280" y="1188720"/>
            <a:ext cx="1965960" cy="31089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812280" y="1188720"/>
            <a:ext cx="196596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6949440" y="14173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阶段四：完整系统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949440" y="2011680"/>
            <a:ext cx="1691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第10课 回测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第11课 风控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第12课 毕业设计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44805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从零到跑通第一个量化监控系统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第01课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交易是什么？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从菜市场到股票交易所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1097280" cy="274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645920"/>
            <a:ext cx="5943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01. 交易本质：一个人想卖，一个人想买，价格谈拢 → 成交</a:t>
            </a:r>
            <a:endParaRPr lang="en-US" sz="1200" dirty="0"/>
          </a:p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02. 菜市场：你问价 → 老板报价 → 砍价 → 成交</a:t>
            </a:r>
            <a:endParaRPr lang="en-US" sz="1200" dirty="0"/>
          </a:p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 交易所：你下单 → 系统查价 → 匹配 → 成交</a:t>
            </a:r>
            <a:endParaRPr lang="en-US" sz="1200" dirty="0"/>
          </a:p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04. 限价单："我只出这个价，爱卖不卖" → 挂单排队</a:t>
            </a:r>
            <a:endParaRPr lang="en-US" sz="1200" dirty="0"/>
          </a:p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05. 市价单："现在就要！" → 立刻吃掉最便宜的卖单</a:t>
            </a:r>
            <a:endParaRPr lang="en-US" sz="1200" dirty="0"/>
          </a:p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06. 价格优先 + 时间优先 = 排队规则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583680" y="731520"/>
            <a:ext cx="2286000" cy="1645920"/>
          </a:xfrm>
          <a:prstGeom prst="rect">
            <a:avLst/>
          </a:prstGeom>
          <a:solidFill>
            <a:srgbClr val="F0FDFA"/>
          </a:solidFill>
          <a:ln w="6350">
            <a:solidFill>
              <a:srgbClr val="02809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766560" y="8686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核心概念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766560" y="118872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价格优先 · 时间优先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583680" y="42062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🤝</a:t>
            </a:r>
            <a:endParaRPr lang="en-US" sz="3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第02课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价格是怎么来的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供需关系 + K线图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1097280" cy="274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645920"/>
            <a:ext cx="5943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01. 想买的人 &gt; 想卖的人 → 价格涨 (供不应求)</a:t>
            </a:r>
            <a:endParaRPr lang="en-US" sz="1200" dirty="0"/>
          </a:p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02. 想卖的人 &gt; 想买的人 → 价格跌 (供过于求)</a:t>
            </a:r>
            <a:endParaRPr lang="en-US" sz="1200" dirty="0"/>
          </a:p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 K线 = 一个时间段的"体温计"</a:t>
            </a:r>
            <a:endParaRPr lang="en-US" sz="1200" dirty="0"/>
          </a:p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04. 一根K线包含：开盘价 / 收盘价 / 最高价 / 最低价</a:t>
            </a:r>
            <a:endParaRPr lang="en-US" sz="1200" dirty="0"/>
          </a:p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05. 红色 = 收盘 &gt; 开盘 (涨了)</a:t>
            </a:r>
            <a:endParaRPr lang="en-US" sz="1200" dirty="0"/>
          </a:p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06. 量化交易者写代码直接连行情源，比看手机快几百倍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583680" y="731520"/>
            <a:ext cx="2286000" cy="1645920"/>
          </a:xfrm>
          <a:prstGeom prst="rect">
            <a:avLst/>
          </a:prstGeom>
          <a:solidFill>
            <a:srgbClr val="F0FDFA"/>
          </a:solidFill>
          <a:ln w="6350">
            <a:solidFill>
              <a:srgbClr val="02809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766560" y="8686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核心概念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766560" y="118872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供需决定价格 · K线四价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583680" y="42062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📈</a:t>
            </a:r>
            <a:endParaRPr lang="en-US" sz="3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第03课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动手抓第一个行情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Python脚本获取实时比特币价格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1097280" cy="274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645920"/>
            <a:ext cx="5943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01. API = 程序问服务器要数据的"接口"</a:t>
            </a:r>
            <a:endParaRPr lang="en-US" sz="1200" dirty="0"/>
          </a:p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02. HTTP请求 → 服务器返回JSON → 提取价格</a:t>
            </a:r>
            <a:endParaRPr lang="en-US" sz="1200" dirty="0"/>
          </a:p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 只用20行代码：从3个数据源同时抓价格</a:t>
            </a:r>
            <a:endParaRPr lang="en-US" sz="1200" dirty="0"/>
          </a:p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04. CoinGecko / 币安 / OKX 三源对比</a:t>
            </a:r>
            <a:endParaRPr lang="en-US" sz="1200" dirty="0"/>
          </a:p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05. bps (基点) = 万分之一，金融圈常用单位</a:t>
            </a:r>
            <a:endParaRPr lang="en-US" sz="1200" dirty="0"/>
          </a:p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06. 第一次让电脑代替人眼看价格！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583680" y="731520"/>
            <a:ext cx="2286000" cy="1645920"/>
          </a:xfrm>
          <a:prstGeom prst="rect">
            <a:avLst/>
          </a:prstGeom>
          <a:solidFill>
            <a:srgbClr val="F0FDFA"/>
          </a:solidFill>
          <a:ln w="6350">
            <a:solidFill>
              <a:srgbClr val="02809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766560" y="8686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核心概念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766560" y="118872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· JSON · 多源比价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583680" y="2560320"/>
            <a:ext cx="2286000" cy="9144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66560" y="26517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对应文件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766560" y="29260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get_price.py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583680" y="42062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🐍</a:t>
            </a:r>
            <a:endParaRPr lang="en-US" sz="3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第04课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套利和价差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低买高卖的数学原理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1097280" cy="274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645920"/>
            <a:ext cx="5943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01. 套利 = 同一个东西在不同地方价格不同 → 白赚差价</a:t>
            </a:r>
            <a:endParaRPr lang="en-US" sz="1200" dirty="0"/>
          </a:p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02. 价差 = 贵的 - 便宜的 (绝对价差)</a:t>
            </a:r>
            <a:endParaRPr lang="en-US" sz="1200" dirty="0"/>
          </a:p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 bps = 价差 ÷ 均价 × 10000 (相对价差)</a:t>
            </a:r>
            <a:endParaRPr lang="en-US" sz="1200" dirty="0"/>
          </a:p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04. 币安 vs OKX 价差通常 &lt; 1 bps (被机器搬平了)</a:t>
            </a:r>
            <a:endParaRPr lang="en-US" sz="1200" dirty="0"/>
          </a:p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05. 市场剧烈波动时价差会"裂开"——窗口出现</a:t>
            </a:r>
            <a:endParaRPr lang="en-US" sz="1200" dirty="0"/>
          </a:p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06. 谁最快发现价差，谁就赚钱 (速度竞赛)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583680" y="731520"/>
            <a:ext cx="2286000" cy="1645920"/>
          </a:xfrm>
          <a:prstGeom prst="rect">
            <a:avLst/>
          </a:prstGeom>
          <a:solidFill>
            <a:srgbClr val="F0FDFA"/>
          </a:solidFill>
          <a:ln w="6350">
            <a:solidFill>
              <a:srgbClr val="02809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766560" y="8686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核心概念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766560" y="118872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价差 · bps · 套利窗口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583680" y="42062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💰</a:t>
            </a:r>
            <a:endParaRPr lang="en-US" sz="3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第05课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均值回归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物极必反的数学原理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1097280" cy="274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645920"/>
            <a:ext cx="5943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01. 皮筋理论：拉得越远，弹回来的力气越大</a:t>
            </a:r>
            <a:endParaRPr lang="en-US" sz="1200" dirty="0"/>
          </a:p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02. 价格总是在均值上下晃荡</a:t>
            </a:r>
            <a:endParaRPr lang="en-US" sz="1200" dirty="0"/>
          </a:p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 涨太多 → 想卖的人增多 → 价格跌回来</a:t>
            </a:r>
            <a:endParaRPr lang="en-US" sz="1200" dirty="0"/>
          </a:p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04. 跌太多 → 想买的人增多 → 价格涨回去</a:t>
            </a:r>
            <a:endParaRPr lang="en-US" sz="1200" dirty="0"/>
          </a:p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05. 移动平均线(MA) = 过去N天的平均价格</a:t>
            </a:r>
            <a:endParaRPr lang="en-US" sz="1200" dirty="0"/>
          </a:p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06. 上轨卖出，下轨买入，等价格回到均值平仓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583680" y="731520"/>
            <a:ext cx="2286000" cy="1645920"/>
          </a:xfrm>
          <a:prstGeom prst="rect">
            <a:avLst/>
          </a:prstGeom>
          <a:solidFill>
            <a:srgbClr val="F0FDFA"/>
          </a:solidFill>
          <a:ln w="6350">
            <a:solidFill>
              <a:srgbClr val="02809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766560" y="8686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核心概念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766560" y="118872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均值回归 · 布林带 · 移动平均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583680" y="42062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🎯</a:t>
            </a:r>
            <a:endParaRPr lang="en-US" sz="3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第06课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价差监控器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自动扫描，异常报警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1097280" cy="274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645920"/>
            <a:ext cx="5943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01. 把第3课的脚本升级：加循环 → 自动反复查</a:t>
            </a:r>
            <a:endParaRPr lang="en-US" sz="1200" dirty="0"/>
          </a:p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02. 每10秒扫描一次，发现价差过大就报警</a:t>
            </a:r>
            <a:endParaRPr lang="en-US" sz="1200" dirty="0"/>
          </a:p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 设置报警阈值 (如10 bps以上标记"⚠️ 警报")</a:t>
            </a:r>
            <a:endParaRPr lang="en-US" sz="1200" dirty="0"/>
          </a:p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04. 三个数据源同时对比 (CoinGecko/币安/OKX)</a:t>
            </a:r>
            <a:endParaRPr lang="en-US" sz="1200" dirty="0"/>
          </a:p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05. 在后台24小时自动运行，异常自动发现</a:t>
            </a:r>
            <a:endParaRPr lang="en-US" sz="1200" dirty="0"/>
          </a:p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06. 这就是量化自动化的第一步！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583680" y="731520"/>
            <a:ext cx="2286000" cy="1645920"/>
          </a:xfrm>
          <a:prstGeom prst="rect">
            <a:avLst/>
          </a:prstGeom>
          <a:solidFill>
            <a:srgbClr val="F0FDFA"/>
          </a:solidFill>
          <a:ln w="6350">
            <a:solidFill>
              <a:srgbClr val="02809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766560" y="8686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核心概念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766560" y="118872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自动循环 · 阈值报警 · 多源对比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583680" y="2560320"/>
            <a:ext cx="2286000" cy="9144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66560" y="26517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对应文件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766560" y="29260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spread_monitor.py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583680" y="42062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🔁</a:t>
            </a:r>
            <a:endParaRPr lang="en-US" sz="3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第07课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 / PB / ROE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三个指标看懂一家公司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1097280" cy="274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645920"/>
            <a:ext cx="5943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01. PE (市盈率) = 股价 ÷ 每股利润 = 回本需要多少年</a:t>
            </a:r>
            <a:endParaRPr lang="en-US" sz="1200" dirty="0"/>
          </a:p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02. PB (市净率) = 股价 ÷ 每股净资产 = 溢价了几倍</a:t>
            </a:r>
            <a:endParaRPr lang="en-US" sz="1200" dirty="0"/>
          </a:p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 ROE (净资产收益率) = 净利润 ÷ 净资产 = 赚钱效率</a:t>
            </a:r>
            <a:endParaRPr lang="en-US" sz="1200" dirty="0"/>
          </a:p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04. ROE是三个指标中最重要的！巴菲特最爱看它</a:t>
            </a:r>
            <a:endParaRPr lang="en-US" sz="1200" dirty="0"/>
          </a:p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05. 好公司画像：ROE &gt; 15% + PE合理 + PB正常</a:t>
            </a:r>
            <a:endParaRPr lang="en-US" sz="1200" dirty="0"/>
          </a:p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06. 便宜的股票 ≠ 好股票 (小心"价值陷阱")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583680" y="731520"/>
            <a:ext cx="2286000" cy="1645920"/>
          </a:xfrm>
          <a:prstGeom prst="rect">
            <a:avLst/>
          </a:prstGeom>
          <a:solidFill>
            <a:srgbClr val="F0FDFA"/>
          </a:solidFill>
          <a:ln w="6350">
            <a:solidFill>
              <a:srgbClr val="02809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766560" y="8686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核心概念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766560" y="118872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PE(回本) · PB(溢价) · ROE(赚钱能力)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583680" y="42062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📊</a:t>
            </a:r>
            <a:endParaRPr lang="en-US" sz="3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第08课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多因子打分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像考试一样给股票排名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1097280" cy="274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645920"/>
            <a:ext cx="5943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01. 多因子打分 = 给股票"期末考试"，多个科目分别打分</a:t>
            </a:r>
            <a:endParaRPr lang="en-US" sz="1200" dirty="0"/>
          </a:p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02. ROE 40分 + PE 30分 + PB 15分 + 动量 15分 = 100分</a:t>
            </a:r>
            <a:endParaRPr lang="en-US" sz="1200" dirty="0"/>
          </a:p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 权重设计：ROE最高(40分) 因为最能体现公司质量</a:t>
            </a:r>
            <a:endParaRPr lang="en-US" sz="1200" dirty="0"/>
          </a:p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04. 打分规则：if-else 条件判断，初中数学水平</a:t>
            </a:r>
            <a:endParaRPr lang="en-US" sz="1200" dirty="0"/>
          </a:p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05. 专业量化基金用几十到上百个因子</a:t>
            </a:r>
            <a:endParaRPr lang="en-US" sz="1200" dirty="0"/>
          </a:p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06. 可回测验证：过去按这个打分选的股票涨没涨？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583680" y="731520"/>
            <a:ext cx="2286000" cy="1645920"/>
          </a:xfrm>
          <a:prstGeom prst="rect">
            <a:avLst/>
          </a:prstGeom>
          <a:solidFill>
            <a:srgbClr val="F0FDFA"/>
          </a:solidFill>
          <a:ln w="6350">
            <a:solidFill>
              <a:srgbClr val="02809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766560" y="8686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核心概念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766560" y="118872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因子权重 · 总分排名 · 量化选股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583680" y="42062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📋</a:t>
            </a:r>
            <a:endParaRPr lang="en-US" sz="3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第09课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选股打分器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Python自动排名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1097280" cy="274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645920"/>
            <a:ext cx="5943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01. 代码 = 股票池 → 逐项打分 → 算总分 → 排名输出</a:t>
            </a:r>
            <a:endParaRPr lang="en-US" sz="1200" dirty="0"/>
          </a:p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02. score_roe / score_pe / score_pb 等判断函数</a:t>
            </a:r>
            <a:endParaRPr lang="en-US" sz="1200" dirty="0"/>
          </a:p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 用真实数据：茅台ROE满分，招行PE便宜提分</a:t>
            </a:r>
            <a:endParaRPr lang="en-US" sz="1200" dirty="0"/>
          </a:p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04. 小米三项均衡后来居上，腾讯差1分惜败</a:t>
            </a:r>
            <a:endParaRPr lang="en-US" sz="1200" dirty="0"/>
          </a:p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05. 排序算法：results.sort(reverse=True) 一行搞定</a:t>
            </a:r>
            <a:endParaRPr lang="en-US" sz="1200" dirty="0"/>
          </a:p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06. 可以加入任意股票，一键排名！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583680" y="731520"/>
            <a:ext cx="2286000" cy="1645920"/>
          </a:xfrm>
          <a:prstGeom prst="rect">
            <a:avLst/>
          </a:prstGeom>
          <a:solidFill>
            <a:srgbClr val="F0FDFA"/>
          </a:solidFill>
          <a:ln w="6350">
            <a:solidFill>
              <a:srgbClr val="02809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766560" y="8686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核心概念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766560" y="118872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评分函数 · 排序算法 · 实时排名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583680" y="2560320"/>
            <a:ext cx="2286000" cy="9144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66560" y="26517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对应文件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766560" y="29260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stock_scorer.py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583680" y="42062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💻</a:t>
            </a:r>
            <a:endParaRPr lang="en-US" sz="3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第10课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回测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先模拟再实战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1097280" cy="274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645920"/>
            <a:ext cx="5943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01. 回测 = 用历史数据"假装交易"，看策略赚不赚钱</a:t>
            </a:r>
            <a:endParaRPr lang="en-US" sz="1200" dirty="0"/>
          </a:p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02. 和模拟考试一样：做往年真题→估分→调整</a:t>
            </a:r>
            <a:endParaRPr lang="en-US" sz="1200" dirty="0"/>
          </a:p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 过拟合(Overfitting)：背答案式调参数→实战亏光</a:t>
            </a:r>
            <a:endParaRPr lang="en-US" sz="1200" dirty="0"/>
          </a:p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04. 回测三谎言：只看上涨行情 / 反复调参 / 忽略手续费</a:t>
            </a:r>
            <a:endParaRPr lang="en-US" sz="1200" dirty="0"/>
          </a:p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05. 解决方法：样本外测试(80%调参+20%验证)</a:t>
            </a:r>
            <a:endParaRPr lang="en-US" sz="1200" dirty="0"/>
          </a:p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06. 公式：回测年化 = (每次收益率之和) ÷ 交易次数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583680" y="731520"/>
            <a:ext cx="2286000" cy="1645920"/>
          </a:xfrm>
          <a:prstGeom prst="rect">
            <a:avLst/>
          </a:prstGeom>
          <a:solidFill>
            <a:srgbClr val="F0FDFA"/>
          </a:solidFill>
          <a:ln w="6350">
            <a:solidFill>
              <a:srgbClr val="02809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766560" y="8686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核心概念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766560" y="118872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历史模拟 · 过拟合 · 样本外测试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583680" y="42062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🎲</a:t>
            </a:r>
            <a:endParaRPr lang="en-US" sz="3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第11课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风险控制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先想好怎么亏钱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1097280" cy="274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645920"/>
            <a:ext cx="5943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01. 交易第一原则：不是谁赚得多，而是谁活得久</a:t>
            </a:r>
            <a:endParaRPr lang="en-US" sz="1200" dirty="0"/>
          </a:p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02. 止损：每笔交易设最大亏损 (如8%) → 到了就割肉</a:t>
            </a:r>
            <a:endParaRPr lang="en-US" sz="1200" dirty="0"/>
          </a:p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 仓位：单只股票不超过总资金20% → 分散风险</a:t>
            </a:r>
            <a:endParaRPr lang="en-US" sz="1200" dirty="0"/>
          </a:p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04. 回撤控制：总账户亏到15% → 停手反思</a:t>
            </a:r>
            <a:endParaRPr lang="en-US" sz="1200" dirty="0"/>
          </a:p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05. 亏50%需要涨100%才能回本 → 别大亏</a:t>
            </a:r>
            <a:endParaRPr lang="en-US" sz="1200" dirty="0"/>
          </a:p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06. 每次都执行：先定止损→再想仓位→最后算收益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583680" y="731520"/>
            <a:ext cx="2286000" cy="1645920"/>
          </a:xfrm>
          <a:prstGeom prst="rect">
            <a:avLst/>
          </a:prstGeom>
          <a:solidFill>
            <a:srgbClr val="F0FDFA"/>
          </a:solidFill>
          <a:ln w="6350">
            <a:solidFill>
              <a:srgbClr val="02809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766560" y="8686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核心概念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766560" y="118872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止损 · 仓位 · 回撤控制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583680" y="42062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🛡️</a:t>
            </a:r>
            <a:endParaRPr lang="en-US" sz="3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第12课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毕业设计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跑通第一个量化监控系统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1097280" cy="274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645920"/>
            <a:ext cx="5943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01. 合体！行情采集 + 策略分析 + 风控 + 日志</a:t>
            </a:r>
            <a:endParaRPr lang="en-US" sz="1200" dirty="0"/>
          </a:p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02. quant_monitor.py = 完整的自动化系统</a:t>
            </a:r>
            <a:endParaRPr lang="en-US" sz="1200" dirty="0"/>
          </a:p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 每30秒：抓3个源 → 算价差 → 风控检查 → 记录日志</a:t>
            </a:r>
            <a:endParaRPr lang="en-US" sz="1200" dirty="0"/>
          </a:p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04. 零错误运行！这是你的毕业成果 🎓</a:t>
            </a:r>
            <a:endParaRPr lang="en-US" sz="1200" dirty="0"/>
          </a:p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05. 下一步：接入微信通知 / 加更多品种 / 实盘</a:t>
            </a:r>
            <a:endParaRPr lang="en-US" sz="1200" dirty="0"/>
          </a:p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06. 你已经比90%的股民更懂交易背后的逻辑了！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583680" y="731520"/>
            <a:ext cx="2286000" cy="1645920"/>
          </a:xfrm>
          <a:prstGeom prst="rect">
            <a:avLst/>
          </a:prstGeom>
          <a:solidFill>
            <a:srgbClr val="F0FDFA"/>
          </a:solidFill>
          <a:ln w="6350">
            <a:solidFill>
              <a:srgbClr val="02809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766560" y="8686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核心概念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766560" y="118872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全系统整合 · 自动化运行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583680" y="2560320"/>
            <a:ext cx="2286000" cy="9144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66560" y="26517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对应文件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766560" y="29260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quant_monitor.py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583680" y="42062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🎓</a:t>
            </a:r>
            <a:endParaRPr lang="en-US" sz="3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0" y="73152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🎓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恭喜毕业！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657600" y="2560320"/>
            <a:ext cx="1828800" cy="3657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834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你已经完成了12课量化交易入门课程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286000" y="338328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Python抓取实时行情</a:t>
            </a:r>
            <a:endParaRPr lang="en-US" sz="1300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价差套利分析</a:t>
            </a:r>
            <a:endParaRPr lang="en-US" sz="1300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多因子选股打分</a:t>
            </a:r>
            <a:endParaRPr lang="en-US" sz="1300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自动监控系统</a:t>
            </a:r>
            <a:endParaRPr lang="en-US" sz="1300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风险控制意识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量化交易入门 - 12课课程</dc:title>
  <dc:subject>PptxGenJS Presentation</dc:subject>
  <dc:creator>运营</dc:creator>
  <cp:lastModifiedBy>运营</cp:lastModifiedBy>
  <cp:revision>1</cp:revision>
  <dcterms:created xsi:type="dcterms:W3CDTF">2026-05-02T01:54:54Z</dcterms:created>
  <dcterms:modified xsi:type="dcterms:W3CDTF">2026-05-02T01:54:54Z</dcterms:modified>
</cp:coreProperties>
</file>