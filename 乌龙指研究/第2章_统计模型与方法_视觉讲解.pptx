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第2章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量化交易中的统计模型与方法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2194560"/>
            <a:ext cx="164592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46888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股票价格特征 · 布朗运动 · 现代投资组合理论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CAPM → 多因子 · ARIMA/GARCH/鞅回归 · NPEB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动量 · 配对交易 · 逆向投资 · 价值投资 · 策略评估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本章结构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完整版 · 共14页详细讲解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914400" cy="274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05840"/>
            <a:ext cx="2011680" cy="22860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201168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188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2.1-2.2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463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股票价格特征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9202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非正态分布/波动率集聚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布朗运动/随机游走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68880" y="1005840"/>
            <a:ext cx="2011680" cy="22860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68880" y="1005840"/>
            <a:ext cx="201168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2560320" y="1188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2.3-2.4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60320" y="1463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CAPM到多因子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60320" y="19202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CAPM→Fama-French→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Carhart四因子→Black-Litterman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1005840"/>
            <a:ext cx="2011680" cy="22860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005840"/>
            <a:ext cx="201168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1188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2.5-2.7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54880" y="1463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NPEB+鞅回归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0" y="19202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参数不确定性处理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ARIMA/GARCH/鞅回归模型演进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58000" y="1005840"/>
            <a:ext cx="2011680" cy="22860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0" y="1005840"/>
            <a:ext cx="201168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6949440" y="1188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949440" y="1463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五大统计套利策略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49440" y="19202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动量/配对/逆向/价值/宏观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样本内外评估方法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2.1 股票价格四大特征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原书p.17-19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914400" cy="274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97280"/>
            <a:ext cx="2011680" cy="23774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2011680" cy="4114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143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非正态分布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69164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尖峰厚尾 (Fat Tails)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极端值比正态预期更多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「黑天鹅」事件更常发生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68880" y="1097280"/>
            <a:ext cx="2011680" cy="23774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68880" y="1097280"/>
            <a:ext cx="2011680" cy="4114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2560320" y="1143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波动率集聚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560320" y="169164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大波动之后跟着大波动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平静之后跟着平静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这正是GARCH模型要刻画的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1097280"/>
            <a:ext cx="2011680" cy="23774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097280"/>
            <a:ext cx="201168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1143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收益自相关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54880" y="169164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短期轻微正相关(趋势)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长期负相关(均值回归)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动量和逆向策略的根源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0" y="1097280"/>
            <a:ext cx="2011680" cy="23774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58000" y="1097280"/>
            <a:ext cx="2011680" cy="4114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6949440" y="1143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价格跳跃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49440" y="169164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价格不是连续变动的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消息冲击导致不连续跳跃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建模时需区分跳跃和波动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43891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原书引用Lai和Xing(2008)前六章结论 · 高频数据离散化价格变动(2.1.2节)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2.2 布朗运动与随机游走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Bachelier(1900)博士论文《投机理论》· 原书p.20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914400" cy="274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05840"/>
            <a:ext cx="2743200" cy="1645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274320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1430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 1900年巴黎：一个被忽视的发现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50876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Louis Bachelier在巴黎-索邦大学研究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巴黎证交所债券价格变动规律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结论：价格变动完全随机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比爱因斯坦研究布朗运动早5年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但当时没人在意...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743200" cy="1645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005840"/>
            <a:ext cx="274320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1430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物理上的布朗运动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91840" y="150876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1827年植物学家Robert Brown发现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花粉颗粒在水中无规则乱跳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1905年爱因斯坦用数学解释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被无数水分子随机撞击的结果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005840"/>
            <a:ext cx="2743200" cy="1645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005840"/>
            <a:ext cx="27432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11430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金融上的随机游走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17920" y="150876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Bachelier将布朗运动引入金融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证券价格每一步随机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向上或向下概率相等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无法预测下一步方向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有效市场假说的数学基础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41148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随机游走 → 如果市场有效，技术分析没用，主动管理没用，买指数就够了。但2.8节会告诉你：存在可被利用的统计规律。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2.3 CAPM：最早的定价模型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Sharpe(1964) · 资本资产定价模型 · 原书p.21-22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914400" cy="274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solidFill>
            <a:srgbClr val="EEEDFE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515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E(Rᵢ) = R_f + βᵢ × (E(R_m) - R_f)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828800"/>
            <a:ext cx="2011680" cy="10972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828800"/>
            <a:ext cx="201168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965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R_f 无风险利率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331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存银行/买国债的收益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在中国≈2%（国债利率）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基准收益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68880" y="1828800"/>
            <a:ext cx="2011680" cy="10972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68880" y="1828800"/>
            <a:ext cx="201168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2560320" y="1965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贝塔系数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60320" y="2331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股票跟大盘的同步程度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β=1 → 和大盘同涨同跌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β=1.2 → 比大盘波动大20%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1828800"/>
            <a:ext cx="2011680" cy="10972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828800"/>
            <a:ext cx="201168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1965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E(R_m)-R_f 市场溢价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2331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股市比存银行多赚多少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历史≈6%（美股）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是承担风险的回报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58000" y="1828800"/>
            <a:ext cx="2011680" cy="10972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58000" y="1828800"/>
            <a:ext cx="201168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6949440" y="1965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E(Rᵢ) 预期收益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949440" y="2331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综合以上得出的合理回报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CAPM说这就是应有的收益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超额收益部分叫α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2461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实例：假设R_f=2%（国债），β=1.2（茅台比大盘波动大20%），市场溢价=6% → 茅台预期收益 = 2% + 1.2×6% = 9.2%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36118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问题是：CAPM只有一个因子 → 解释不了小盘股跑赢、价值股跑赢的现象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Markowitz均值-方差的致命问题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原书2.3-2.4节 · 所有后续方法都是为了解决它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914400" cy="274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05840"/>
            <a:ext cx="5486400" cy="7315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54864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1430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Markowitz的贡献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508760"/>
            <a:ext cx="5303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Markowitz(1952)把选股变成了数学优化：给定风险找最大收益组合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核心输入：预期收益 + 方差(风险) + 相关系数 → 算出最优权重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8229600" cy="548640"/>
          </a:xfrm>
          <a:prstGeom prst="rect">
            <a:avLst/>
          </a:prstGeom>
          <a:solidFill>
            <a:srgbClr val="FEF2F2"/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9659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但问题来了——输入参数极度敏感！用2024年数据算的"最优组合"，换成2025年数据就完全不一样。预期收益微调0.5%，权重从50%变成80%。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651760"/>
            <a:ext cx="2651760" cy="13716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651760"/>
            <a:ext cx="265176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27889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用2024年数据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31546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股票A 50%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股票B 30%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股票C 20%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108960" y="2651760"/>
            <a:ext cx="2651760" cy="13716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08960" y="2651760"/>
            <a:ext cx="265176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0" y="27889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用2025年数据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00400" y="31546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股票A 10%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股票B 60%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股票C 30%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43600" y="2651760"/>
            <a:ext cx="2926080" cy="13716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0" y="2651760"/>
            <a:ext cx="292608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1" name="Text 19"/>
          <p:cNvSpPr/>
          <p:nvPr/>
        </p:nvSpPr>
        <p:spPr>
          <a:xfrm>
            <a:off x="6035040" y="2788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收益微调0.5%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035040" y="31546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股票A 80%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股票B -10%（做空）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股票C 30%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所以后续所有方法（2.4.2-2.5节）都是为了解决这个问题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2.4.1 Fama-French三因子模型(1993)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原书p.23 · 为什么一个因子不够？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914400" cy="274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solidFill>
            <a:srgbClr val="FEF2F2"/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515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CAPM解决不了的两个谜题：①小盘股长期跑赢大盘股，β却没高多少 ②价值股跑赢成长股，β也解释不了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solidFill>
            <a:srgbClr val="EEEDFE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916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Rᵢ - R_f = β₁(R_m - R_f) + β₂×SMB + β₃×HML + α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468880"/>
            <a:ext cx="2743200" cy="15544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468880"/>
            <a:ext cx="27432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6060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MKT 市场因子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29718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和CAPM一样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全市场的超额收益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描述：大盘涨跌对你的影响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0" y="2468880"/>
            <a:ext cx="2743200" cy="15544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2468880"/>
            <a:ext cx="27432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3291840" y="26060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 规模因子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91840" y="29718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Minus Big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小盘股收益 - 大盘股收益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小盘股年化跑赢约3-5%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承担了额外流动风险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26480" y="2468880"/>
            <a:ext cx="2743200" cy="15544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2468880"/>
            <a:ext cx="274320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26060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HML 价值因子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17920" y="29718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Minus Low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高账面市值比-低账面市值比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价值股年化跑赢约4-6%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低PE/PB的长期溢价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Carhart四因子(1997) + α的意义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原书p.23 · 与你第9课打分器的关系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914400" cy="274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05840"/>
            <a:ext cx="1965960" cy="9144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196596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1430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MKT 市场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5087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大盘涨跌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77440" y="1005840"/>
            <a:ext cx="1965960" cy="9144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377440" y="1005840"/>
            <a:ext cx="196596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2468880" y="11430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 规模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68880" y="15087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大盘 vs 小盘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80560" y="1005840"/>
            <a:ext cx="1965960" cy="9144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80560" y="1005840"/>
            <a:ext cx="196596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11430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HML 价值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0" y="15087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价值 vs 成长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583680" y="1005840"/>
            <a:ext cx="2286000" cy="9144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83680" y="1005840"/>
            <a:ext cx="22860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0" y="11430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 动量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75120" y="15087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过去涨 vs 过去跌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solidFill>
            <a:srgbClr val="EEEDFE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2148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Rᵢ - R_f = β₁MKT + β₂SMB + β₃HML + β₄MOM + α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4320" y="2743200"/>
            <a:ext cx="3931920" cy="13716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2743200"/>
            <a:ext cx="393192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28803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α（阿尔法）：真正的本事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324612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四因子都解释不了的超额收益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&gt; 0 → 基金经理真的有选股能力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≈ 0 → 收益来自因子暴露（运气）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没有α的策略，大盘跌时扛不住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389120" y="2743200"/>
            <a:ext cx="4480560" cy="13716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389120" y="2743200"/>
            <a:ext cx="448056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9" name="Text 27"/>
          <p:cNvSpPr/>
          <p:nvPr/>
        </p:nvSpPr>
        <p:spPr>
          <a:xfrm>
            <a:off x="4480560" y="28803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跟你的打分器对比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480560" y="324612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你的stock_scorer.py用4个维度打分：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ROE分(40) + PE分(30) + PB分(15) + 动量分(15)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与四因子模型逻辑相通：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PE/PB→价值因子Roe→盈利质量 动量→MOM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2.4.2-2.5 四种解决方法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核心目标：让最优组合不因微小参数变化而剧烈变动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914400" cy="274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05840"/>
            <a:ext cx="2743200" cy="13716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274320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1430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缩减技术(Shrinkage)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5087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把极端估计往均值方向"拉"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Shrinkage Estimator = α×原始+(1-α)×全局均值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例：股票历史收益30%→缩减后20%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以降低极端值的影响力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743200" cy="13716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005840"/>
            <a:ext cx="27432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1430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贝叶斯方法(Bayesian)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91840" y="15087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先验信念 + 数据 = 后验估计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先猜一个大概（先验）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用数据修正这个猜想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结果不会太离谱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005840"/>
            <a:ext cx="2743200" cy="13716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005840"/>
            <a:ext cx="27432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11430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Black-Litterman ★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17920" y="15087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第①步：从市场均衡反推预期收益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第②步：加入投资者主观观点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第③步：贝叶斯融合两者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结果比Markowitz稳健得多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651760"/>
            <a:ext cx="2743200" cy="13716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651760"/>
            <a:ext cx="274320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27889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Bootstrap方法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31546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从历史数据有放回地反复抽样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每次抽一个Bootstrap样本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每个样本算一次最优组合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1000次结果取平均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0" y="2651760"/>
            <a:ext cx="2743200" cy="13716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0" y="2651760"/>
            <a:ext cx="27432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3291840" y="27889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NPEB新方法 ★★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91840" y="31546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在Bootstrap基础上加入NPEB法则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自动惩罚"只在某些样本最优"的极端权重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样本外表现优于传统方法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本书重要理论贡献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2519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演进路线：Shrinkage → Bayesian → Black-Litterman → Bootstrap → NPEB（越来越复杂，也越来越稳健）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Black-Litterman + NPEB 详解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原书2.4.2节(Black-Litterman) · 2.5节(NPEB)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914400" cy="274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05840"/>
            <a:ext cx="3931920" cy="1463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393192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143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Black-Litterman 三步走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50876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第①步：从市场均衡反推预期收益——"如果市场有效，当前价格隐含了什么收益？"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第②步：加入你的主观观点——"茅台ROE会提升"或"芯片股估值过高"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第③步：贝叶斯融合——有信心→观点权重大，没把握→均衡权重大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结果：不会出现极端权重，比纯Markowitz实用得多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89120" y="1005840"/>
            <a:ext cx="4480560" cy="1463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1005840"/>
            <a:ext cx="448056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0" y="11430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NPEB（非参数经验贝叶斯）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480560" y="150876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第一步：从历史数据中有放回地抽取1000个Bootstrap样本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第二步：对每个样本算一个"最优组合"→得到1000组不同权重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第三步：取1000组权重的平均值→自动惩罚不稳定极端权重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加上时间序列效应后→新现代投资组合理论(2.7节)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8346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 新现代投资组合理论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2004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2.7.1 在NPEB中加入时间序列效应 → 联合建模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34747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2.7.2 在有效前沿上找最优信息比率（不再是单纯的均值-方差）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37490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2.7.3 实证检验：新方法在样本外表现优于传统ARIMA+GARCH分开建模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第2章 完整时间线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31520"/>
            <a:ext cx="13716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914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时间序列模型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0" y="914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投资组合理论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1900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88720" y="12801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Bachelier 布朗运动/随机游走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88720" y="150876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巴黎证交所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1874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1960s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188720" y="18745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随机游走模型定型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188720" y="210312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有效市场假说基石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57200" y="2468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1970s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188720" y="24688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Box-Jenkins ARIMA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188720" y="269748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用过去预测未来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57200" y="3063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1982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88720" y="30632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Engle ARCH → GARCH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188720" y="32918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2003诺贝尔奖·猜波动率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57200" y="3657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2000s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188720" y="36576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鞅回归模型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188720" y="388620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均值+方差联合建模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57200" y="4251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近年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188720" y="42519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NPEB + 鞅回归 ★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188720" y="448056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本书重要贡献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4114800" y="12801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1952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846320" y="1280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Markowitz均值-方差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846320" y="15087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开创性但参数敏感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114800" y="1874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1964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846320" y="1874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CAPM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846320" y="21031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β和市场定价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4114800" y="2468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1990s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846320" y="2468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Black-Litterman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846320" y="26974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均衡+观点融合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4114800" y="3063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1993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846320" y="3063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Fama-French三因子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846320" y="32918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MKT+SMB+HML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4114800" y="3657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1997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846320" y="3657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Carhart四因子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846320" y="38862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+MOM动量因子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4114800" y="4251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2000s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846320" y="4251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Shrinkage/Bootstrap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846320" y="44805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解决参数敏感问题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4" name="Text 42"/>
          <p:cNvSpPr/>
          <p:nvPr/>
        </p:nvSpPr>
        <p:spPr>
          <a:xfrm>
            <a:off x="640080" y="46177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两条线在NPEB汇合 → 你的spread_monitor(配对交易)←统计套利(2.8) | 你的stock_scorer(选股评分)←多因子模型(2.4.1)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2.6 时间序列模型演进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随机游走→ARIMA→GARCH→鞅回归+NPEB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914400" cy="274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182880" y="1097280"/>
            <a:ext cx="1645920" cy="2743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1097280"/>
            <a:ext cx="1645920" cy="4572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1430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随机游走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16459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Bachelier(1900)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74320" y="1965960"/>
            <a:ext cx="1463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价格变化独立同分布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布朗运动基础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有效市场假说基石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完全随机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810512" y="2286000"/>
            <a:ext cx="155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→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965960" y="1097280"/>
            <a:ext cx="1645920" cy="2743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965960" y="1097280"/>
            <a:ext cx="1645920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2057400" y="11430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057400" y="16459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Box-Jenkins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057400" y="1965960"/>
            <a:ext cx="1463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自回归移动平均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用过去价格预测未来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线性时间序列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短期有一定预测力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593592" y="2286000"/>
            <a:ext cx="155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→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749040" y="1097280"/>
            <a:ext cx="1645920" cy="2743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749040" y="1097280"/>
            <a:ext cx="1645920" cy="4572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9" name="Text 17"/>
          <p:cNvSpPr/>
          <p:nvPr/>
        </p:nvSpPr>
        <p:spPr>
          <a:xfrm>
            <a:off x="3840480" y="11430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GARCH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40480" y="16459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Engle(1982)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840480" y="1965960"/>
            <a:ext cx="1463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条件异方差模型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波动率时变集聚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大波动→大波动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刻画肥尾特征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376672" y="2286000"/>
            <a:ext cx="155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→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32120" y="1097280"/>
            <a:ext cx="1645920" cy="2743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532120" y="1097280"/>
            <a:ext cx="1645920" cy="4572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5" name="Text 23"/>
          <p:cNvSpPr/>
          <p:nvPr/>
        </p:nvSpPr>
        <p:spPr>
          <a:xfrm>
            <a:off x="5623560" y="11430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鞅回归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623560" y="16459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新方法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623560" y="1965960"/>
            <a:ext cx="1463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条件均值+方差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联合建模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趋势和风险互相影响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优于分开建模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159752" y="2286000"/>
            <a:ext cx="155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→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315200" y="1097280"/>
            <a:ext cx="1645920" cy="2743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315200" y="1097280"/>
            <a:ext cx="1645920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1" name="Text 29"/>
          <p:cNvSpPr/>
          <p:nvPr/>
        </p:nvSpPr>
        <p:spPr>
          <a:xfrm>
            <a:off x="7406640" y="11430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NPEB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406640" y="16459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本书贡献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406640" y="1965960"/>
            <a:ext cx="1463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非参经验贝叶斯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Bootstrap估计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自动惩罚极端权重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样本外更稳健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2.3-2.5 投资组合理论与新方法总览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从经典到前沿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914400" cy="274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05840"/>
            <a:ext cx="2011680" cy="2743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201168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51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Markowitz均值-方差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554480"/>
            <a:ext cx="1828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有效前沿理论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期望收益最大/风险最小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问题：对参数极度敏感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输入微变，权重大变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68880" y="1005840"/>
            <a:ext cx="2011680" cy="2743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68880" y="1005840"/>
            <a:ext cx="2011680" cy="4114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2560320" y="1051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Fama-French多因子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60320" y="1554480"/>
            <a:ext cx="1828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市场(MKT)+规模(SMB)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+价值(HML)+动量(MOM)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收益 = Σβ_i × Factor_i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解释90%收益差异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005840"/>
            <a:ext cx="2011680" cy="2743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005840"/>
            <a:ext cx="201168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1051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Black-Litterman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1554480"/>
            <a:ext cx="1828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先验=市场均衡收益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观点=投资者主观判断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后验=两者贝叶斯融合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结果更稳健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58000" y="1005840"/>
            <a:ext cx="2011680" cy="2743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58000" y="1005840"/>
            <a:ext cx="2011680" cy="4114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6949440" y="1051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NPEB新方法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949440" y="1554480"/>
            <a:ext cx="1828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Bootstrap估计不确定性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自动惩罚极端权重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样本外表现更优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本书重点贡献的方法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2.8.2 动量策略（Momentum）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Jegadeesh &amp; Titman(1993) · 时间跨度：3-12个月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914400" cy="274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05840"/>
            <a:ext cx="3931920" cy="10972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393192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143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核心思想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5087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过去涨的股票，未来3-12个月还会继续涨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不是追涨杀跌，而是有统计支撑的金融异象(Anomaly)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投资者反应不足 + 信息缓慢扩散 = 动量利润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89120" y="1005840"/>
            <a:ext cx="4480560" cy="10972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1005840"/>
            <a:ext cx="448056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0" y="11430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具体做法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480560" y="15087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每6个月按过去6个月涨幅排名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买涨幅前10% + 卖跌幅前10%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持有6个月后重新排名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377440"/>
            <a:ext cx="2743200" cy="13716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377440"/>
            <a:ext cx="27432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514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为什么有效？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28803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投资者对好消息反应不足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价格调整需要时间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大机构分批建仓/减仓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信息缓慢扩散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0" y="2377440"/>
            <a:ext cx="2743200" cy="13716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0" y="2377440"/>
            <a:ext cx="274320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9" name="Text 17"/>
          <p:cNvSpPr/>
          <p:nvPr/>
        </p:nvSpPr>
        <p:spPr>
          <a:xfrm>
            <a:off x="3291840" y="2514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风险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91840" y="28803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动量崩溃(Momentum Crash)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市场急转直下时巨亏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如2008年金融危机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换手率高→交易成本大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26480" y="2377440"/>
            <a:ext cx="2743200" cy="13716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26480" y="2377440"/>
            <a:ext cx="274320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3" name="Text 21"/>
          <p:cNvSpPr/>
          <p:nvPr/>
        </p:nvSpPr>
        <p:spPr>
          <a:xfrm>
            <a:off x="6217920" y="2514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实例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17920" y="28803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2025年6月排名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买：AI概念股（过去涨40%）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卖：房地产股（过去跌30%）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持有6个月后净赚25%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2.8.2 配对交易（Pairs Trading）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统计套利的经典 · 直接对应你的spread_monitor.py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914400" cy="274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05840"/>
            <a:ext cx="3931920" cy="7315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393192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143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👬 核心思想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508760"/>
            <a:ext cx="3749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双胞胎比喻：兄弟俩身高几乎一样，突然差3cm → 过几天会恢复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找两只高度相关的资产（相关性&gt;0.8），价差拉大时赌它们回归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2011680"/>
            <a:ext cx="2011680" cy="10058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011680"/>
            <a:ext cx="54864" cy="10058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0574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①找兄弟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23317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两只高相关股票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茅台和五粮液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468880" y="2011680"/>
            <a:ext cx="2011680" cy="10058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68880" y="2011680"/>
            <a:ext cx="54864" cy="10058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2606040" y="20574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②算价差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06040" y="23317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价格比值或差值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茅台价/五粮液价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63440" y="2011680"/>
            <a:ext cx="2011680" cy="10058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2011680"/>
            <a:ext cx="54864" cy="10058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4800600" y="20574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③定阈值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00600" y="23317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偏离均值超2σ入场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回到均值出场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858000" y="2011680"/>
            <a:ext cx="2011680" cy="10058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0" y="2011680"/>
            <a:ext cx="54864" cy="10058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6995160" y="20574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④执行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995160" y="23317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做多低的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做空高的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3291840"/>
            <a:ext cx="8229600" cy="731520"/>
          </a:xfrm>
          <a:prstGeom prst="rect">
            <a:avLst/>
          </a:prstGeom>
          <a:solidFill>
            <a:srgbClr val="EEEDFE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33375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你的spread_monitor.py已实现：多源同时抓价格 + 计算价差bps + 超过阈值报警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完整的配对交易还需：确定入场阈值(标准差法) + 同时做多/做空 + 设定止损线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2.8.3-2.8.4 逆向投资·价值投资·全球宏观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原书p.43-44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914400" cy="274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05840"/>
            <a:ext cx="2743200" cy="13716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274320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1430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逆向投资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5087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时间跨度：1-3年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买跌得最惨的股票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卖涨得最好的股票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理论基础：过度反应后反转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行为金融学偏差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743200" cy="13716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005840"/>
            <a:ext cx="274320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1430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价值投资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91840" y="15087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时间跨度：长期(年)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买被低估的好公司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PE低、PB低、ROE高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格雷厄姆→巴菲特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价值溢价(HML因子)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005840"/>
            <a:ext cx="2743200" cy="13716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005840"/>
            <a:ext cx="27432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11430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全球宏观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17920" y="15087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时间跨度：约1个月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利用宏观事件和趋势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酌情型 vs 系统型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美元涨→买美元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依赖经济数据分析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651760"/>
            <a:ext cx="8229600" cy="11887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7432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策略选择地图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31089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短期(天-周)→配对交易 | 中期(3-12月)→动量 | 中期(1-3年)→逆向 | 长期(年)→价值投资 | 事件驱动→宏观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34747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2.8.5 策略评估铁律：样本内调参数，样本外验证真水平。测试100次→即使全是随机也有5个假阳性。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第2章 核心总结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13716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7680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数据特征</a:t>
            </a:r>
            <a:endParaRPr lang="en-US" sz="1200" dirty="0"/>
          </a:p>
          <a:p>
            <a:pPr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股票收益 ≠ 正态分布 | 波动率会集聚 | 存在跳跃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模型演进</a:t>
            </a:r>
            <a:endParaRPr lang="en-US" sz="1200" dirty="0"/>
          </a:p>
          <a:p>
            <a:pPr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随机游走 → ARIMA → GARCH → 鞅回归 → NPEB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投资组合理论</a:t>
            </a:r>
            <a:endParaRPr lang="en-US" sz="1200" dirty="0"/>
          </a:p>
          <a:p>
            <a:pPr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CAPM → Fama-French三因子 → Carhart四因子 → Black-Litterman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统计套利策略</a:t>
            </a:r>
            <a:endParaRPr lang="en-US" sz="1200" dirty="0"/>
          </a:p>
          <a:p>
            <a:pPr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动量(3-12月) · 配对交易(天-周) · 逆向(1-3年) · 价值(长期) · 宏观(月)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评估纪律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样本内 + 样本外双重验证 · 多重检验校正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第2章 · 完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840480" y="2286000"/>
            <a:ext cx="146304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下一章：积极型投资组合管理和投资策略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第2章 量化交易中的统计模型与方法</dc:title>
  <dc:subject>PptxGenJS Presentation</dc:subject>
  <dc:creator>运营</dc:creator>
  <cp:lastModifiedBy>运营</cp:lastModifiedBy>
  <cp:revision>1</cp:revision>
  <dcterms:created xsi:type="dcterms:W3CDTF">2026-05-02T03:39:22Z</dcterms:created>
  <dcterms:modified xsi:type="dcterms:W3CDTF">2026-05-02T03:39:22Z</dcterms:modified>
</cp:coreProperties>
</file>